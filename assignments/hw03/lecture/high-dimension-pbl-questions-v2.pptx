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446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开场只呈现待检验的问题，不表态。告诉学生：今天的任务是用自己获得的证据回应团队。让学生保留初始判断，最后再回看。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依据本课 student-worksheet.md、experiment-design.md、data/README.md。 数据背景不是实验答案。来源：https://www.openml.org/d/1104；Golub et al. Science (1999), DOI:10.1126/science.286.5439.531。原始数据许可字段为Public，不扩写为CC BY。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0–7分钟，T1.1。先让每人写立场，再两人交换理由。不要评价哪种立场正确。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本页是学习目标和时间安排，不是实验结论。课后60分钟完成迁移与稳定性分析。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依据本课 student-worksheet.md、experiment-design.md、data/README.md。 T1.2，7–13分钟。让学生先判断输入列，不直接公布排除列表。追问：探针数、基因数和独立信息量为什么可能不同？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解释操作语义：没有新增患者或重新测量。随机种子只决定已有探针列的顺序。不要预先判定更多列会使性能上升或下降。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T1.1–T1.3。初判不按猜对评分。课堂分担五类场景后汇总，避免每组重复做长报告。不要把72个教学编号称为已核验独立患者。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放在T2操作说明前，解释实验目的，不预告趋势。这里CV指变异系数，不是交叉验证。种子只控制已有列的排列，不生成模拟数据，不改变样本。每个种子内使用嵌套子集。特征数增加时，特征组成和相关性也在变化，所以不能把结果解释成维度本身的纯因果效应。更换种子检查选列敏感性，不等于获得独立的新队列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T2，13–23分钟。标准化公式为每列减均值、除总体标准差（ddof=0）。此处是描述当前样本，不用该全样本变换评分模型。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T2.1–T2.3。对应A-scatter-2D-3D.png、A-distance-distributions.png、A-real-distances.csv。幻灯片不展示运行图和趋势。请学生在自己的输出中指出证据。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T3.1，23–30分钟。文件A-neighbors-seed42.csv和A-real-distances.csv。若遇d_min=0要单独记录。请学生讨论相对差与绝对差，而非直接告诉变化方向。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T3.2–T3.3。补充追问：尺度、特征相关性与距离度量如何影响解释？未实际运行的替代度量只能作为假设或建议。不要披露非单调发生的具体条件。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T4.1，30–38分钟。解释1近邻如何使用最近训练样本标签，不预告训练满分。标准化仅fit训练数据，测试应用同一变换。固定全部方案后统一查看测试结果。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停在本页，先运行notebook仅显示训练BA的单元，让学生写判断后再运行下一单元。不要提前打开B-generalization.png。讨论时不把训练测试差距直接写成高维的因果效应。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T4.2–T4.3。依据B-original-split.csv核对分母。不给BA基线答案，不给训练与测试数值。评价学生是否准确区分指标、当前队列和未来泛化。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T5.1，38–45分钟。本题只做理论计算，不运行差异检验。不给乘积答案。不要把探针数称作不同基因数。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T5.2。此页清楚标注为待审查流程，不展示修复答案。追问如果搜索多个k，选择k与评价性能各放在哪里。不要在学生作答前画出正确Pipeline。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最后3分钟给两组短分享，再让全班写退出卡。不按是否选择同一主张评分，要求证据可追溯、机制合理、边界具体。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H1。k=20预设，筛选在训练折内拟合。数据表B-training-only-cv.csv和B-selection-stability.csv。提交填写工作单及运行notebook，不另交重复报告。作业包含情境n/p、课堂两类数值证据、稳定性比较、策略和边界。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依据本课 student-worksheet.md、experiment-design.md、data/README.md。 教师可在开课前先打开本页帮助定位文件。课堂预先安装requirements.txt。原始数据含负值，按数据说明处理，不直接log或把非正值当缺失。遇计算故障用教师按阶段提供的表，课后补做操作。</a:t>
            </a:r>
          </a:p>
          <a:p>
            <a:r>
              <a:t>依据本课 student-worksheet.md、experiment-design.md、data/README.md。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B557A03-F31D-4B3A-8940-FBA3353B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06B283C-3FC0-4097-AD15-F16687D1B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E3C9923-7050-4EF5-8432-614480D5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5A6B814-C5CF-4C71-9983-9C2D50D9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A1ACE3C-5E1A-4758-A954-D96C7036F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878C81F-EB9F-4093-99D1-63C2BB70F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E4D1A71-4092-4B18-B7AE-FC494ACD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551E3C2-DAC7-47C4-89F5-8B88D3D174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F1AE8EA-C2AA-471C-94A4-8DBA8396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631E641-3306-4C37-ADCD-C0DB89D5A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A2C669D-2310-4CF3-BF01-7A08887F53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生物医学数据科学  第3讲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6FECED-39F1-440C-9679-9EB32DC3FCA4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43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3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高维数据与维度灾难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A9DDE7-9F14-4B74-9BA0-B810D94FBCD1}"/>
              </a:ext>
            </a:extLst>
          </p:cNvPr>
          <p:cNvSpPr>
            <a:spLocks noGrp="1"/>
          </p:cNvSpPr>
          <p:nvPr/>
        </p:nvSpPr>
        <p:spPr>
          <a:xfrm>
            <a:off x="723900" y="313372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3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特征越多，模型就一定越好吗？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547CA4-39F8-4F53-B674-C071943D7D2D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用白血病真实表达数据，向研究团队提出分析建议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F1E086-D326-4460-AC81-339AEAA06E02}"/>
              </a:ext>
            </a:extLst>
          </p:cNvPr>
          <p:cNvSpPr>
            <a:spLocks noGrp="1"/>
          </p:cNvSpPr>
          <p:nvPr/>
        </p:nvSpPr>
        <p:spPr>
          <a:xfrm>
            <a:off x="723900" y="5981700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65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第3讲  PBL问题引导  zhang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A64627-397B-4530-8A5B-5ED820D17A2D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599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4B52898-0790-4B57-AF94-5ACCB94871D4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数据背景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3A0391-9F25-44CF-8F2D-E975DEFE8218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这份数据测量了什么？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87A40A-2EBD-4761-B2BF-3037BE04C56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份表达样本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7,129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个实测探针特征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FEED4B-1DFB-4074-9A43-AE037CACF74E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Golub </a:t>
            </a:r>
            <a:r>
              <a:rPr sz="2100" b="0" dirty="0" err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白血病微阵列表达数据</a:t>
            </a:r>
            <a:endParaRPr sz="2100" b="0" dirty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OpenML</a:t>
            </a:r>
            <a:r>
              <a:rPr sz="2100" b="0" dirty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0" dirty="0" err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leukemia，ID</a:t>
            </a:r>
            <a:r>
              <a:rPr sz="2100" b="0" dirty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 1104，版本1</a:t>
            </a:r>
          </a:p>
          <a:p>
            <a:endParaRPr sz="2100" b="0" dirty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ALL：急性淋巴细胞白血病</a:t>
            </a:r>
            <a:endParaRPr sz="2100" b="0" dirty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AML：急性髓系白血病</a:t>
            </a:r>
            <a:endParaRPr sz="2100" b="0" dirty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endParaRPr sz="2100" b="0" dirty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我们使用已有表达值和诊断标签</a:t>
            </a:r>
            <a:r>
              <a:rPr sz="2100" b="0" dirty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36C579-182D-4B16-88E1-642462FC8629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思考：这里的一行是什么？一列是什么？n与p分别代表什么？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4B5BDF-9C35-448F-920A-5FA6FFB84304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2182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AA133E9-52AE-427C-BEB2-B8C5EEA01C95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研究团队面临的决定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C876B8-563E-47FF-85A1-644AEB370F26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我们应纳入多少特征？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5DDA3E-91C2-4617-985E-E3D8E91EA8A6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你的角色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研究助理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7AADEE-C347-4ABD-8F29-AA929F34DE95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团队希望根据表达数据区分 ALL 与 AML。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同事主张：“测得的特征越多，预测就越好。”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导师需要你说明：支持这个主张，究竟需要什么证据？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B717B2-AC3D-458F-B37E-7145266351BF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最终产出：一份有证据、有理由、说明适用范围的建议。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E3B082-18E8-41A3-843D-07ECCA2B765B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151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0F5C25F-F650-4995-A508-13C624E91672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今天要完成的判断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AFF23E-48D2-4541-951D-B3A8A7A6AE4C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怎样才算回答了团队的问题？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70212F-BCF5-457C-BA69-E1AD9F7B58DB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A0F1C5-0714-46AF-B650-F9C163E932C9}"/>
              </a:ext>
            </a:extLst>
          </p:cNvPr>
          <p:cNvSpPr>
            <a:spLocks noGrp="1"/>
          </p:cNvSpPr>
          <p:nvPr/>
        </p:nvSpPr>
        <p:spPr>
          <a:xfrm>
            <a:off x="2895600" y="233362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明确样本、特征和研究单位。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0006BD-730A-45BE-9F3F-E2FB64A2F898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5DA03B-F7F8-4E31-AA9C-574E97E89B3A}"/>
              </a:ext>
            </a:extLst>
          </p:cNvPr>
          <p:cNvSpPr>
            <a:spLocks noGrp="1"/>
          </p:cNvSpPr>
          <p:nvPr/>
        </p:nvSpPr>
        <p:spPr>
          <a:xfrm>
            <a:off x="2895600" y="314325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比较“近”和“远”，解释指标的变化。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853AC0-056C-4BCA-A9B3-393B8DA0D1CC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泛化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7A017D-672D-4D31-B043-1C2282812D76}"/>
              </a:ext>
            </a:extLst>
          </p:cNvPr>
          <p:cNvSpPr>
            <a:spLocks noGrp="1"/>
          </p:cNvSpPr>
          <p:nvPr/>
        </p:nvSpPr>
        <p:spPr>
          <a:xfrm>
            <a:off x="2895600" y="395287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比较训练与未参与拟合样本的表现。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697B6E-B380-42B0-8271-B66F0E3538B6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593CE5-30B5-42B9-BC05-BF931856E1E6}"/>
              </a:ext>
            </a:extLst>
          </p:cNvPr>
          <p:cNvSpPr>
            <a:spLocks noGrp="1"/>
          </p:cNvSpPr>
          <p:nvPr/>
        </p:nvSpPr>
        <p:spPr>
          <a:xfrm>
            <a:off x="2895600" y="476250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用证据修订判断，并提出下一步验证。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D50747-A593-44C4-B297-5076BCC6F661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课堂45分钟：T1 13分钟 / T2 10分钟 / T3 7分钟 / T4 8分钟 / T5 7分钟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C92A38-3465-4F73-98C8-3758893CAD72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255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860CC4-F5EC-406A-9013-659C33148A1F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探针与数据表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E861AE-4732-41DC-95F4-162037EE8C08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哪些列可以进入模型？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CD3B04-90F6-48F2-BCB9-2CD2BADC049A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025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探针是微阵列中的测量单元，在本表中对应一个表达特征列。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A83E099-197F-4D1F-81BE-0770D7441323}"/>
              </a:ext>
            </a:extLst>
          </p:cNvPr>
          <p:cNvGraphicFramePr/>
          <p:nvPr/>
        </p:nvGraphicFramePr>
        <p:xfrm>
          <a:off x="685800" y="2676525"/>
          <a:ext cx="10820400" cy="2714625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按原行序建立的教学编号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original_split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已有的训练与测试划分标记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样本的ALL或AML诊断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7,129个探针列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微阵列对特定核酸序列表达的测量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BEAD545-0E2E-4BF5-8971-4F93634D24A2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T1.2：计算p/n，核对类别数量，并说明每种列在分析中的角色。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F3B43C-CE63-4C99-A6C4-D70EE3D43E82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5516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529A2E6-321A-4958-9E9B-69DB48F0073E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纳入更多已有的探针特征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2784A4-EB1F-412B-B222-EB408BFD3763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比较中什么不变，什么改变？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61511-F899-41F3-9562-F0F79DE11FC7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同一批样本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同一份表达表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A7B31-E6BA-4340-8196-9D86A7F88F68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先确定一次探针列顺序。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分析前2列，再扩展到前3列、前10列，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逐步使用更多已有列。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每个较小子集，都包含在后续较大子集中。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029C65-C384-41BA-B1F0-50125803873B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讨论：多纳入一列，是否必然多获得一份独立、有用的信息？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C38538-3D3C-4688-B8BF-12CB74FEAE7F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320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3DD326C-C538-486D-AA3C-B78247E4E14C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T1 初始判断与迁移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4C8827-B296-4641-A155-A4784CE066FA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什么证据会让你改变看法？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D8302D-9595-4487-9681-234F771413B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先独立写三句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我的判断是……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我的理由是……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如果看到……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我会修订判断。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4C5D16-94F4-4FDB-934A-69D9CCE4913E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小组分担五类情境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转录组、蛋白组、代谢组、医学影像、单细胞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每类说明一行、一列、特征量级和一个风险。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为什么细胞多，不一定意味着独立患者多？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95D05A-DF06-474F-833B-99D509AC0511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提交：初判＋数据概况表＋五类情境表。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6C4F25-07AE-47E9-A2D2-000BF24DF6C8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674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153509-13E2-4FA1-A8F9-AAE03FEACDB9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为什么这样设计距离实验？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7DE891-F0CF-4757-BD79-96A09091697E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特征数量改变时，样本间的远近差别会怎样变化？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2027CD-4F78-4527-856E-F34103C13D6F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逐步增加列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C8BD0D-7FE6-4C20-85A9-3BBCD5609661}"/>
              </a:ext>
            </a:extLst>
          </p:cNvPr>
          <p:cNvSpPr>
            <a:spLocks noGrp="1"/>
          </p:cNvSpPr>
          <p:nvPr/>
        </p:nvSpPr>
        <p:spPr>
          <a:xfrm>
            <a:off x="2895600" y="233362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固定72份样本和计算方法，按同一列序取前p列。</a:t>
            </a:r>
          </a:p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保留已选特征，观察纳入更多已有探针后的变化。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E7597A-A486-4F7E-9CF0-6CB93A20682C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比较距离CV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225A6E-0A23-400A-8C85-85AFBB73679D}"/>
              </a:ext>
            </a:extLst>
          </p:cNvPr>
          <p:cNvSpPr>
            <a:spLocks noGrp="1"/>
          </p:cNvSpPr>
          <p:nvPr/>
        </p:nvSpPr>
        <p:spPr>
          <a:xfrm>
            <a:off x="2895600" y="314325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CV（变异系数）= 距离标准差 ÷ 平均距离。</a:t>
            </a:r>
          </a:p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衡量距离的相对分散程度，便于比较不同维度。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1C380F-1C9B-4693-A767-5703D0EBABCA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固定随机种子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27EAE6-A1C2-4A6A-91D9-B122EAD84825}"/>
              </a:ext>
            </a:extLst>
          </p:cNvPr>
          <p:cNvSpPr>
            <a:spLocks noGrp="1"/>
          </p:cNvSpPr>
          <p:nvPr/>
        </p:nvSpPr>
        <p:spPr>
          <a:xfrm>
            <a:off x="2895600" y="395287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种子是控制随机排列的整数，如42。</a:t>
            </a:r>
          </a:p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相同代码与环境下，可复现同一探针列序。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D3A885-02ED-431E-AD54-A8231FADC0D9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更换随机种子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C9A815-8871-4A3F-9147-D54262D5A099}"/>
              </a:ext>
            </a:extLst>
          </p:cNvPr>
          <p:cNvSpPr>
            <a:spLocks noGrp="1"/>
          </p:cNvSpPr>
          <p:nvPr/>
        </p:nvSpPr>
        <p:spPr>
          <a:xfrm>
            <a:off x="2895600" y="476250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再用7和2026排列已有列，重复取前p列。</a:t>
            </a:r>
          </a:p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检查观察到的变化是否依赖某一次特征选择。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F619E7-7023-44E5-A2C6-84FE861F40BD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先预测，再用数据判断：换一批特征后，你的解释还成立吗？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1AD378-40C4-4E7C-ADC1-462E9547F679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9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80D59DF-3A01-4C9D-AFB8-C3CEFE6FF64D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T2 距离比较的操作范围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808AE3-C736-4F51-A643-878DB8C8881B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纳入更多列后，样本间距离怎样变化？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7DAC83-76C0-47EE-8B11-5C39BC6DDE4E}"/>
              </a:ext>
            </a:extLst>
          </p:cNvPr>
          <p:cNvGraphicFramePr/>
          <p:nvPr/>
        </p:nvGraphicFramePr>
        <p:xfrm>
          <a:off x="685800" y="2352675"/>
          <a:ext cx="10820400" cy="2714625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本次约定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全部72份表达样本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尺度与距离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逐探针z-score；欧氏距离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探针顺序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随机种子42，不根据诊断选列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比较维度p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2、3、10、100、1,000、7,129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1DFA238-87B6-4B41-8DF8-6771F1887BE7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先分别预测平均距离、距离CV的变化，再运行notebook实验A。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929893-F9A1-41B3-AD5E-2ADA148A1575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614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A202D81-79E9-479C-97E7-58E2D70EBDFA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T2 如何读取距离证据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3376FE-75CF-4184-BC86-50B2AF51B00C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你看到的是绝对距离，还是相对差异？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291FEA-AC25-40CD-963A-23B9BD81BE5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平均距离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样本对距离的平均值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距离CV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距离标准差 ÷ 平均距离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DAC1C9-5DF2-41E0-B50E-885E09D74AD0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先看二维和三维散点图。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再看各维度的距离分布。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图横轴为“距离 ÷ 该条件平均距离”。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表中仍记录原始平均距离。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D5B9A9-2F4F-4C71-B1DC-5C80AF416892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记录p=2、3、100、7,129的均距、CV与R。解释两个指标是否表达同一件事。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000110-4DB1-4695-A294-0DE385C69B4E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157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102DFCD-F196-4F42-BAEE-38E08106003B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T3 最近邻与最远邻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8200F7-9BDA-4152-AF45-F167AB47FA27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“相对接近”应该怎样衡量？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E5DAFE-6307-4E08-BD2F-A1AF7308635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61912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40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R = (d_max − d_min) / d_min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20D5CC-DF0C-4D53-98D9-E4541CCC741A}"/>
              </a:ext>
            </a:extLst>
          </p:cNvPr>
          <p:cNvSpPr>
            <a:spLocks noGrp="1"/>
          </p:cNvSpPr>
          <p:nvPr/>
        </p:nvSpPr>
        <p:spPr>
          <a:xfrm>
            <a:off x="7334250" y="2324100"/>
            <a:ext cx="417195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对每个样本，排除它自己。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d_min：到最近邻的距离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d_max：到最远邻的距离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逐个计算R，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再取全体R的中位数。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BDF4E1-CC65-4B75-81FB-10791DA4D019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找到G001：在p=2和7,129时手算R，再与全体绝对差中位数比较。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BB5C7C-3E01-44A7-833B-CCC4A9049840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7852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E3FEA5D-383D-46DD-8D1D-DA477A8D8FA5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T3 结论对选列敏感吗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899358-158A-4235-B8DD-80BCD70F4D23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换一批已有探针，判断还成立吗？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F21326-A69C-48CD-9C79-CA8F5C6A3493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E57FA-1DEB-423B-9B24-14DC86395BB2}"/>
              </a:ext>
            </a:extLst>
          </p:cNvPr>
          <p:cNvSpPr>
            <a:spLocks noGrp="1"/>
          </p:cNvSpPr>
          <p:nvPr/>
        </p:nvSpPr>
        <p:spPr>
          <a:xfrm>
            <a:off x="2895600" y="233362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保留72份样本，改用种子7和2026确定列序。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6FEC39-4D59-4AA2-8A09-B48146163F3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FC804C-CE1E-4470-8C03-5A92E967FB50}"/>
              </a:ext>
            </a:extLst>
          </p:cNvPr>
          <p:cNvSpPr>
            <a:spLocks noGrp="1"/>
          </p:cNvSpPr>
          <p:nvPr/>
        </p:nvSpPr>
        <p:spPr>
          <a:xfrm>
            <a:off x="2895600" y="314325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比较同一p下的CV与R，记录不同与相同之处。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6617DB-8E39-4BB6-A27F-599A788EB27F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追问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86B2A7-B2CB-4804-9EEA-1E2BF85A4DB5}"/>
              </a:ext>
            </a:extLst>
          </p:cNvPr>
          <p:cNvSpPr>
            <a:spLocks noGrp="1"/>
          </p:cNvSpPr>
          <p:nvPr/>
        </p:nvSpPr>
        <p:spPr>
          <a:xfrm>
            <a:off x="2895600" y="395287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是否每一步都单调？请指出一条具体记录。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CF366A-1444-4730-8747-ACD5BA0A5151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567DC-83AE-4C0B-925F-131E0317D457}"/>
              </a:ext>
            </a:extLst>
          </p:cNvPr>
          <p:cNvSpPr>
            <a:spLocks noGrp="1"/>
          </p:cNvSpPr>
          <p:nvPr/>
        </p:nvSpPr>
        <p:spPr>
          <a:xfrm>
            <a:off x="2895600" y="476250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全部7,129列只改变顺序，距离应怎样变化？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B9DD86-D279-44E3-8F51-E3768170AB11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提交：G001核算＋种子对照＋一句有条件的解释。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2FA605-B6F1-42D9-968A-51DE6F8BE9DB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107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603D018-2F21-4C75-B907-136F267B8AF7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T4 预测实验的操作范围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32C4C0-F4D9-4DA8-AA11-9E2F54E65B85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怎样比较不同特征数量的预测表现？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43F9F85-01DE-47E3-9D68-CFC5FAE760F8}"/>
              </a:ext>
            </a:extLst>
          </p:cNvPr>
          <p:cNvGraphicFramePr/>
          <p:nvPr/>
        </p:nvGraphicFramePr>
        <p:xfrm>
          <a:off x="685800" y="2352675"/>
          <a:ext cx="10820400" cy="2714625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固定约定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/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原始划分：38份 / 34份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训练部分标准化，再用1近邻分类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探针顺序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沿用种子42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比较维度p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2、10、100、1,000、7,129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C25EFC8-AEAA-44A2-9A15-4BA529CFE982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先写训练与测试表现的预测，列出保持不变和发生变化的因素。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F9A857-4BEB-4E81-B994-B6FB29EACE66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7398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C1B7EB1-22A9-477C-B460-EF546C5C1645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T4 两次判断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098B52-B429-43A6-A808-D0313CD6ABE4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只看训练表现，你能下什么结论？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04F560-1FA1-433F-9E31-CA2642230821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第一次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只显示训练BA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记录判断及理由。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958065-BE20-4A1A-8F3B-5795FAD01215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第二次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再显示测试BA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你的判断是否改变？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哪项证据促使你修订？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还缺什么才能谈新患者表现？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5D1589-C26E-4A8E-BDF7-10B5A9208245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提交：完整得分表＋一项机制解释＋一项证据缺口。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E01A13-E4A5-44D8-9BDD-CCB8E9FCC841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1232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81A7745-1267-4DA0-BDED-6048D8FC9FDF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T4 评分指标与结果核查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00C186-3214-4FED-B797-05C9CD514554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两类诊断怎样公平计分？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41E6C9-13D0-4869-9236-98D66D2A3D27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025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BA =（ALL召回率 ＋ AML召回率）÷ 2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8AFC405-DECC-4BD8-8911-0010A05C62AB}"/>
              </a:ext>
            </a:extLst>
          </p:cNvPr>
          <p:cNvGraphicFramePr/>
          <p:nvPr/>
        </p:nvGraphicFramePr>
        <p:xfrm>
          <a:off x="685800" y="2676525"/>
          <a:ext cx="10820400" cy="2714625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核查项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87F7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请学生完成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ALL召回率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ALL预测正确数 ÷ 测试集中ALL总数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AML召回率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AML预测正确数 ÷ 测试集中AML总数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p=7,129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用两类正确数手算一次BA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比较基线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如果全部预测为ALL，BA是多少？</a:t>
                      </a:r>
                    </a:p>
                  </a:txBody>
                  <a:tcPr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7A44D45-092D-4DF9-8C66-E181831218C5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追问：本次结果是否足以支持“更多必然更好”或“更多必然更差”？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068563-A21D-43B3-9979-89382806EA2D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4633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7CE9BC8-0F91-48DB-98D7-A943517FBC8D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T5 大量检验与报告选择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8D3ED4-8090-469E-8DA3-F4D8888D4C84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如果只报告最小p-value，会遗漏什么？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20939A-0FF5-4179-8E67-7BB0DD9A9734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理论条件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7,129项检验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所有原假设成立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每项I类错误率0.05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8032BD-E52F-4265-B905-00562694BAF7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预期会出现多少个假阳性？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这个期望数，能当作实测的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差异基因数吗？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FDR控制想解决哪一种风险？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A42D-7A4C-4FEA-9AE5-FAAB55DB19AF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写出计算式、解释其含义，并指出“只挑最显著”带来的问题。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C1118F-FFFA-4B46-B975-7082D7713BB5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0171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0EDCDF3-7CF7-45FE-A773-F45F33A9238E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T5 分析流程审查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31C684-008F-48FD-84BB-F1CBE5608B8F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这个流程哪里需要修改？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D1DB5C-FC39-422A-A6CD-994A477697F8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待审查①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44068B-0671-4130-B7B9-EF29614A26BB}"/>
              </a:ext>
            </a:extLst>
          </p:cNvPr>
          <p:cNvSpPr>
            <a:spLocks noGrp="1"/>
          </p:cNvSpPr>
          <p:nvPr/>
        </p:nvSpPr>
        <p:spPr>
          <a:xfrm>
            <a:off x="2895600" y="233362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在全部72份样本上，按诊断筛选20个探针。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C96B91-2F2C-49D5-A596-208AD331C61D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待审查②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2215BA-B47C-4A04-BCDC-0E188CE3CA28}"/>
              </a:ext>
            </a:extLst>
          </p:cNvPr>
          <p:cNvSpPr>
            <a:spLocks noGrp="1"/>
          </p:cNvSpPr>
          <p:nvPr/>
        </p:nvSpPr>
        <p:spPr>
          <a:xfrm>
            <a:off x="2895600" y="336232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使用全部样本的均值与标准差做标准化。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9E1565-487F-4B73-86DD-E18B187C8007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待审查③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893990-5287-4170-B861-D40FFC8D2AA5}"/>
              </a:ext>
            </a:extLst>
          </p:cNvPr>
          <p:cNvSpPr>
            <a:spLocks noGrp="1"/>
          </p:cNvSpPr>
          <p:nvPr/>
        </p:nvSpPr>
        <p:spPr>
          <a:xfrm>
            <a:off x="2895600" y="439102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对分类器交叉验证，报告新患者预测能力。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3AC3B3-0C36-4A40-9864-7CF0696D1C15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重画流程：标出哪里fit，哪里只能应用已有变换。测试集上能重新选列吗？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D25748-71C0-46C0-B69B-2C094AA6DBE9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8372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8057C43-2464-4DF0-82DD-E82453414079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给研究团队的最终建议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112E53-2CC1-49CD-B65F-D74F842F85E5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你的初始判断需要怎样修订？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444BCB-594F-480A-849A-518220AD6662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主张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0CC2A4-14D7-4868-915B-9AD8BA2C32E9}"/>
              </a:ext>
            </a:extLst>
          </p:cNvPr>
          <p:cNvSpPr>
            <a:spLocks noGrp="1"/>
          </p:cNvSpPr>
          <p:nvPr/>
        </p:nvSpPr>
        <p:spPr>
          <a:xfrm>
            <a:off x="2895600" y="233362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你现在怎样回应“特征越多模型一定越好”？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BAA963-C301-4E25-B5BC-35444A6A340F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E58200-9ECA-4B1F-8A2E-EF9C99649E8C}"/>
              </a:ext>
            </a:extLst>
          </p:cNvPr>
          <p:cNvSpPr>
            <a:spLocks noGrp="1"/>
          </p:cNvSpPr>
          <p:nvPr/>
        </p:nvSpPr>
        <p:spPr>
          <a:xfrm>
            <a:off x="2895600" y="314325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引用一个距离结果和一个泛化结果。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5009EB-886B-43BA-ABF7-6FB1F32AB915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5A3DC9-7626-438D-B028-7562606FFD6E}"/>
              </a:ext>
            </a:extLst>
          </p:cNvPr>
          <p:cNvSpPr>
            <a:spLocks noGrp="1"/>
          </p:cNvSpPr>
          <p:nvPr/>
        </p:nvSpPr>
        <p:spPr>
          <a:xfrm>
            <a:off x="2895600" y="3952875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这些数值为什么支持你的判断？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A083A6-55C0-45E2-92B1-0699FC2CCDFB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EB5439-B37A-43A5-A47F-FED0F1248A92}"/>
              </a:ext>
            </a:extLst>
          </p:cNvPr>
          <p:cNvSpPr>
            <a:spLocks noGrp="1"/>
          </p:cNvSpPr>
          <p:nvPr/>
        </p:nvSpPr>
        <p:spPr>
          <a:xfrm>
            <a:off x="2895600" y="476250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还不能推出什么？下一步需要什么验证？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3193C6-FD62-4A31-8063-E6A87B9DEEEE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T5.3：填写四句话退出卡，再与课前判断对照。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31B841-64EB-4216-B27F-93A58565F125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8920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39E45C5-2548-42BF-944B-8ED7FD54D9A1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H1 课后追问与提交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8A4680-B5C5-435A-8475-6EF53B7C6C91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预测表现与所选探针都稳定吗？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327048-3899-49B4-9EB7-21AEF6B2C664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原训练38份样本内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3折 × 3次重复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比较全部7,129探针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与训练折内选20探针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BB6D97-37C5-43FE-8EC7-7FDEB053B043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验证BA：均值、最小值、最大值。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所选集合：Jaccard中位数与范围。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Jaccard = 交集数 ÷ 并集数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筛选是否每折更好？这些折是否独立？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4F1E56-425D-493A-8F87-6ED15A9910B8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课后60分钟：600–900字，补充两种策略及代价、元数据限制和一项更强验证。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B4F1C8-3E6F-412D-84C3-9E184C847138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22924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2D54009-B679-4D97-83C7-38EC1CE8364D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实验入口与完成标准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5FAC50-1FC6-4B2A-8434-2AA5BEE17CBE}"/>
              </a:ext>
            </a:extLst>
          </p:cNvPr>
          <p:cNvSpPr>
            <a:spLocks noGrp="1"/>
          </p:cNvSpPr>
          <p:nvPr/>
        </p:nvSpPr>
        <p:spPr>
          <a:xfrm>
            <a:off x="685800" y="1228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9"/>
                </a:solidFill>
                <a:latin typeface="Microsoft YaHei"/>
                <a:ea typeface="Microsoft YaHei"/>
                <a:cs typeface="Microsoft YaHei"/>
              </a:rPr>
              <a:t>什么样的回答是清楚且可核查的？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218326-FFE3-4510-B51B-44C517F2AD4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219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student-worksheet.md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notebook/</a:t>
            </a: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high-dimension-lab.ipynb</a:t>
            </a:r>
          </a:p>
          <a:p>
            <a:endParaRPr sz="2250" b="1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data/README.md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FED562-AEA3-4DD2-88FB-A5B0CC82B45F}"/>
              </a:ext>
            </a:extLst>
          </p:cNvPr>
          <p:cNvSpPr>
            <a:spLocks noGrp="1"/>
          </p:cNvSpPr>
          <p:nvPr/>
        </p:nvSpPr>
        <p:spPr>
          <a:xfrm>
            <a:off x="5715000" y="2324100"/>
            <a:ext cx="57912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问题：明确自己回答哪一个问题。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证据：给出数值、条件和所在表。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解释：说明证据与判断的关系。</a:t>
            </a: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边界：说明还未验证的部分。</a:t>
            </a:r>
          </a:p>
          <a:p>
            <a:endParaRPr sz="2100" b="0">
              <a:solidFill>
                <a:srgbClr val="1633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334"/>
                </a:solidFill>
                <a:latin typeface="Microsoft YaHei"/>
                <a:ea typeface="Microsoft YaHei"/>
                <a:cs typeface="Microsoft YaHei"/>
              </a:rPr>
              <a:t>保留版本、种子、运行结果和参数改动。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236E9A-AB52-4074-9714-4DC29A5F72DF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561C"/>
                </a:solidFill>
                <a:latin typeface="Microsoft YaHei"/>
                <a:ea typeface="Microsoft YaHei"/>
                <a:cs typeface="Microsoft YaHei"/>
              </a:rPr>
              <a:t>评分关注证据与推理。表格可粘贴输出，解释由你完成。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05D605-D822-4279-ACFD-5D233178C4B5}"/>
              </a:ext>
            </a:extLst>
          </p:cNvPr>
          <p:cNvSpPr>
            <a:spLocks noGrp="1"/>
          </p:cNvSpPr>
          <p:nvPr/>
        </p:nvSpPr>
        <p:spPr>
          <a:xfrm>
            <a:off x="11430000" y="63436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96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31628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Microsoft Office PowerPoint</Application>
  <DocSecurity>0</DocSecurity>
  <PresentationFormat>宽屏</PresentationFormat>
  <Paragraphs>309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Rongshan Yu</cp:lastModifiedBy>
  <cp:revision>1</cp:revision>
  <dcterms:created xsi:type="dcterms:W3CDTF">2026-10-13T02:02:05Z</dcterms:created>
  <dcterms:modified xsi:type="dcterms:W3CDTF">2026-10-13T02:05:24Z</dcterms:modified>
</cp:coreProperties>
</file>